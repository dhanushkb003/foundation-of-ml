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p:scale>
          <a:sx n="100" d="100"/>
          <a:sy n="100" d="100"/>
        </p:scale>
        <p:origin x="400"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661BC-2B9C-12B2-CE7D-A63F474943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293F9-433F-1A54-CE05-3E30EC3B5C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D714B9-4EEF-AE63-E755-D281D0FF8671}"/>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5" name="Footer Placeholder 4">
            <a:extLst>
              <a:ext uri="{FF2B5EF4-FFF2-40B4-BE49-F238E27FC236}">
                <a16:creationId xmlns:a16="http://schemas.microsoft.com/office/drawing/2014/main" id="{4EC0B34D-AD8D-E8EB-85E1-2ADEE7A221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EE8C44-C2C4-7078-833C-E6FC478D0935}"/>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3280203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E000D-3327-303D-01ED-6BD528412D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967AE3-3F9F-ADCC-9263-F24186C253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E17253-0499-4A6E-1503-C53E4E225BA1}"/>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5" name="Footer Placeholder 4">
            <a:extLst>
              <a:ext uri="{FF2B5EF4-FFF2-40B4-BE49-F238E27FC236}">
                <a16:creationId xmlns:a16="http://schemas.microsoft.com/office/drawing/2014/main" id="{262060EE-8DA1-6F57-EA13-592E0E40FB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91EED4-962B-FF8E-06BE-B71C5F1C7C0C}"/>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4292674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0EFB2-623A-1309-3BCD-D2FACFDDD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244519C-4243-88C7-78C5-89C0DE44FF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95F5F0-B62A-628A-6386-A892A4315534}"/>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5" name="Footer Placeholder 4">
            <a:extLst>
              <a:ext uri="{FF2B5EF4-FFF2-40B4-BE49-F238E27FC236}">
                <a16:creationId xmlns:a16="http://schemas.microsoft.com/office/drawing/2014/main" id="{16D55ECE-CD42-97A7-C38E-80339EEFC3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2DC940-CC96-7B61-8F63-26E6D74DF538}"/>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96944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34376-CBDD-FB3B-7025-C9D9F6AE7F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498B32-BBFE-CE82-5225-431AABDE78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AF4903-57D6-2BEF-1404-9A82F1C51B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A6EB97-25D7-B235-276E-FCC83F5D686A}"/>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6" name="Footer Placeholder 5">
            <a:extLst>
              <a:ext uri="{FF2B5EF4-FFF2-40B4-BE49-F238E27FC236}">
                <a16:creationId xmlns:a16="http://schemas.microsoft.com/office/drawing/2014/main" id="{58EE265D-8C67-15D2-E2BA-578B07E1F0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D59884-AA54-32AF-512D-1F537A116A08}"/>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2292115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B13E-4E85-F008-594D-5EE4CD5A97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55980C-62E2-652F-3332-48ABC205C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6771EF-D1CB-3F99-6F6F-0E757A7C92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3DDD2B-CD64-9675-9C1D-3BFF8243F9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8ECF77-DB7F-8BEA-FED7-F54E9AE40E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CEBC93-C5CE-1414-BFCC-3178BC7E025B}"/>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8" name="Footer Placeholder 7">
            <a:extLst>
              <a:ext uri="{FF2B5EF4-FFF2-40B4-BE49-F238E27FC236}">
                <a16:creationId xmlns:a16="http://schemas.microsoft.com/office/drawing/2014/main" id="{130C37BD-47A7-8B75-2AAB-A69EDCD4E4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D42F5E-8D1D-9838-C0ED-5A15F6D9B8CD}"/>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3636080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1767-8F42-346C-7AFC-98B1501A8E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EE6D77-E396-FAF0-CE3E-B1328B09AC97}"/>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4" name="Footer Placeholder 3">
            <a:extLst>
              <a:ext uri="{FF2B5EF4-FFF2-40B4-BE49-F238E27FC236}">
                <a16:creationId xmlns:a16="http://schemas.microsoft.com/office/drawing/2014/main" id="{799928AC-97E3-0F65-3CFD-740229E727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4E38D0-AF7D-80D2-DA70-32E72A1E623B}"/>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3320010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AB3497-49E2-5701-3B36-99DDF5ACA193}"/>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3" name="Footer Placeholder 2">
            <a:extLst>
              <a:ext uri="{FF2B5EF4-FFF2-40B4-BE49-F238E27FC236}">
                <a16:creationId xmlns:a16="http://schemas.microsoft.com/office/drawing/2014/main" id="{B568B1CB-B4D9-DBCE-AAF8-3040C12C93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4F7B8C-A4E6-BA9C-7E29-2A3A17F70515}"/>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2301159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87508-A4C4-C422-FD7A-6EAFEABAEC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6AC551-63A8-72E9-63AC-33E6181308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3231AC-3E78-699E-2E98-5DE83423C0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14BE79-CD30-AFAA-AC23-62F2B3C9F73C}"/>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6" name="Footer Placeholder 5">
            <a:extLst>
              <a:ext uri="{FF2B5EF4-FFF2-40B4-BE49-F238E27FC236}">
                <a16:creationId xmlns:a16="http://schemas.microsoft.com/office/drawing/2014/main" id="{28C54977-A577-3BF7-62F1-F56FD380C0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8A8F6A-BC58-EFF5-0B43-609E3A2B2DDE}"/>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1159965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AE481-D55E-745F-93E0-293CA472C9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9362C4-6AF0-900B-6714-4E4D75DB00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C8E7D5-A206-31D4-E613-B5BBCEC894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CA09A-1018-1959-FE96-032D4A77F84C}"/>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6" name="Footer Placeholder 5">
            <a:extLst>
              <a:ext uri="{FF2B5EF4-FFF2-40B4-BE49-F238E27FC236}">
                <a16:creationId xmlns:a16="http://schemas.microsoft.com/office/drawing/2014/main" id="{6A0E5A68-F84E-A812-8C69-CB5BA145CB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38B298-6EE0-02BC-0FC7-6D3852D354DA}"/>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2093479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1469-850D-FAFA-AE8D-FD31493C87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B06B73-0BD1-6DB2-5FEE-99CA5E6223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16B876-319D-B406-9394-DF9FB624BAF4}"/>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5" name="Footer Placeholder 4">
            <a:extLst>
              <a:ext uri="{FF2B5EF4-FFF2-40B4-BE49-F238E27FC236}">
                <a16:creationId xmlns:a16="http://schemas.microsoft.com/office/drawing/2014/main" id="{80F88307-8AB5-5526-2D7C-4300842C90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3B7960-C111-C4FD-3300-FFDFEBBCE8C7}"/>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3097271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7492D-0B0B-71B8-667F-73C5FE08B0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461DD1-1E4F-883F-5633-E21BBA06F0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80EA23-AFDC-0074-4688-89CBD7789543}"/>
              </a:ext>
            </a:extLst>
          </p:cNvPr>
          <p:cNvSpPr>
            <a:spLocks noGrp="1"/>
          </p:cNvSpPr>
          <p:nvPr>
            <p:ph type="dt" sz="half" idx="10"/>
          </p:nvPr>
        </p:nvSpPr>
        <p:spPr/>
        <p:txBody>
          <a:bodyPr/>
          <a:lstStyle/>
          <a:p>
            <a:fld id="{CF4ED2CC-5A40-41C6-9FE0-F6720D0C99A4}" type="datetimeFigureOut">
              <a:rPr lang="en-IN" smtClean="0"/>
              <a:t>20-07-2026</a:t>
            </a:fld>
            <a:endParaRPr lang="en-IN"/>
          </a:p>
        </p:txBody>
      </p:sp>
      <p:sp>
        <p:nvSpPr>
          <p:cNvPr id="5" name="Footer Placeholder 4">
            <a:extLst>
              <a:ext uri="{FF2B5EF4-FFF2-40B4-BE49-F238E27FC236}">
                <a16:creationId xmlns:a16="http://schemas.microsoft.com/office/drawing/2014/main" id="{3B00A6DC-DE16-D637-FF51-7E1A521FED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5EFB4B-71BF-6EF8-E625-79A6EA88B79F}"/>
              </a:ext>
            </a:extLst>
          </p:cNvPr>
          <p:cNvSpPr>
            <a:spLocks noGrp="1"/>
          </p:cNvSpPr>
          <p:nvPr>
            <p:ph type="sldNum" sz="quarter" idx="12"/>
          </p:nvPr>
        </p:nvSpPr>
        <p:spPr/>
        <p:txBody>
          <a:bodyPr/>
          <a:lstStyle/>
          <a:p>
            <a:fld id="{42353162-332D-4912-8DA6-2E05EE3FD4EC}" type="slidenum">
              <a:rPr lang="en-IN" smtClean="0"/>
              <a:t>‹#›</a:t>
            </a:fld>
            <a:endParaRPr lang="en-IN"/>
          </a:p>
        </p:txBody>
      </p:sp>
    </p:spTree>
    <p:extLst>
      <p:ext uri="{BB962C8B-B14F-4D97-AF65-F5344CB8AC3E}">
        <p14:creationId xmlns:p14="http://schemas.microsoft.com/office/powerpoint/2010/main" val="2965768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588997-2662-D4E9-EB0B-2694C547B3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BE627B-4E0B-91BE-C89D-5F6899559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6C336D-DA6A-D22A-91CC-23157681B7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4ED2CC-5A40-41C6-9FE0-F6720D0C99A4}" type="datetimeFigureOut">
              <a:rPr lang="en-IN" smtClean="0"/>
              <a:t>20-07-2026</a:t>
            </a:fld>
            <a:endParaRPr lang="en-IN"/>
          </a:p>
        </p:txBody>
      </p:sp>
      <p:sp>
        <p:nvSpPr>
          <p:cNvPr id="5" name="Footer Placeholder 4">
            <a:extLst>
              <a:ext uri="{FF2B5EF4-FFF2-40B4-BE49-F238E27FC236}">
                <a16:creationId xmlns:a16="http://schemas.microsoft.com/office/drawing/2014/main" id="{181E4436-AE54-0334-7719-1F44749316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ED7274D-3543-16E1-22CC-1204466B84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353162-332D-4912-8DA6-2E05EE3FD4EC}" type="slidenum">
              <a:rPr lang="en-IN" smtClean="0"/>
              <a:t>‹#›</a:t>
            </a:fld>
            <a:endParaRPr lang="en-IN"/>
          </a:p>
        </p:txBody>
      </p:sp>
    </p:spTree>
    <p:extLst>
      <p:ext uri="{BB962C8B-B14F-4D97-AF65-F5344CB8AC3E}">
        <p14:creationId xmlns:p14="http://schemas.microsoft.com/office/powerpoint/2010/main" val="2057936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A31F8B-10D3-C415-3AA7-2AAC88FFA954}"/>
              </a:ext>
            </a:extLst>
          </p:cNvPr>
          <p:cNvSpPr txBox="1"/>
          <p:nvPr/>
        </p:nvSpPr>
        <p:spPr>
          <a:xfrm>
            <a:off x="2284828" y="907823"/>
            <a:ext cx="7215501" cy="1015663"/>
          </a:xfrm>
          <a:prstGeom prst="rect">
            <a:avLst/>
          </a:prstGeom>
          <a:noFill/>
        </p:spPr>
        <p:txBody>
          <a:bodyPr wrap="none" rtlCol="0">
            <a:spAutoFit/>
          </a:bodyPr>
          <a:lstStyle/>
          <a:p>
            <a:r>
              <a:rPr lang="en-IN" sz="3000" b="1" dirty="0">
                <a:cs typeface="Times New Roman" panose="02020603050405020304" pitchFamily="18" charset="0"/>
              </a:rPr>
              <a:t>Predictive Modelling of Holiday Package </a:t>
            </a:r>
          </a:p>
          <a:p>
            <a:pPr algn="ctr"/>
            <a:r>
              <a:rPr lang="en-IN" sz="3000" b="1" dirty="0">
                <a:cs typeface="Times New Roman" panose="02020603050405020304" pitchFamily="18" charset="0"/>
              </a:rPr>
              <a:t>Purchase Using Logistic Regression</a:t>
            </a:r>
          </a:p>
        </p:txBody>
      </p:sp>
      <p:sp>
        <p:nvSpPr>
          <p:cNvPr id="6" name="TextBox 5">
            <a:extLst>
              <a:ext uri="{FF2B5EF4-FFF2-40B4-BE49-F238E27FC236}">
                <a16:creationId xmlns:a16="http://schemas.microsoft.com/office/drawing/2014/main" id="{E1CDE13A-4ACF-2862-8364-A1E59496F5B2}"/>
              </a:ext>
            </a:extLst>
          </p:cNvPr>
          <p:cNvSpPr txBox="1"/>
          <p:nvPr/>
        </p:nvSpPr>
        <p:spPr>
          <a:xfrm>
            <a:off x="7782267" y="3896068"/>
            <a:ext cx="2888932" cy="1200329"/>
          </a:xfrm>
          <a:prstGeom prst="rect">
            <a:avLst/>
          </a:prstGeom>
          <a:noFill/>
        </p:spPr>
        <p:txBody>
          <a:bodyPr wrap="none" rtlCol="0">
            <a:spAutoFit/>
          </a:bodyPr>
          <a:lstStyle/>
          <a:p>
            <a:r>
              <a:rPr lang="en-IN" b="1" dirty="0"/>
              <a:t>Prepared By:</a:t>
            </a:r>
          </a:p>
          <a:p>
            <a:r>
              <a:rPr lang="en-IN" dirty="0"/>
              <a:t>Dhanush K B</a:t>
            </a:r>
          </a:p>
          <a:p>
            <a:r>
              <a:rPr lang="en-IN" dirty="0"/>
              <a:t>PGDM – Business Analytics</a:t>
            </a:r>
          </a:p>
          <a:p>
            <a:r>
              <a:rPr lang="en-IN" dirty="0"/>
              <a:t>2511412</a:t>
            </a:r>
          </a:p>
        </p:txBody>
      </p:sp>
    </p:spTree>
    <p:extLst>
      <p:ext uri="{BB962C8B-B14F-4D97-AF65-F5344CB8AC3E}">
        <p14:creationId xmlns:p14="http://schemas.microsoft.com/office/powerpoint/2010/main" val="3350588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F70A4-A4D9-ABF7-AD57-0BE35A1150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BA492E3-5546-C2D3-88D3-4968C0E2D40B}"/>
              </a:ext>
            </a:extLst>
          </p:cNvPr>
          <p:cNvSpPr txBox="1"/>
          <p:nvPr/>
        </p:nvSpPr>
        <p:spPr>
          <a:xfrm>
            <a:off x="1102983" y="1027878"/>
            <a:ext cx="9086988" cy="4289892"/>
          </a:xfrm>
          <a:prstGeom prst="rect">
            <a:avLst/>
          </a:prstGeom>
          <a:noFill/>
        </p:spPr>
        <p:txBody>
          <a:bodyPr wrap="square" rtlCol="0">
            <a:spAutoFit/>
          </a:bodyPr>
          <a:lstStyle/>
          <a:p>
            <a:pPr>
              <a:lnSpc>
                <a:spcPct val="150000"/>
              </a:lnSpc>
            </a:pPr>
            <a:r>
              <a:rPr lang="en-IN" sz="2200" b="1" dirty="0">
                <a:cs typeface="Times New Roman" panose="02020603050405020304" pitchFamily="18" charset="0"/>
              </a:rPr>
              <a:t>Business Problem Statement:</a:t>
            </a:r>
          </a:p>
          <a:p>
            <a:pPr>
              <a:lnSpc>
                <a:spcPct val="150000"/>
              </a:lnSpc>
            </a:pPr>
            <a:r>
              <a:rPr lang="en-IN" dirty="0">
                <a:cs typeface="Times New Roman" panose="02020603050405020304" pitchFamily="18" charset="0"/>
              </a:rPr>
              <a:t>A tour and travel agency aims to increase the sales of its holiday packages. However, marketing these packages to every employee is costly and often ineffective. By understanding customer characteristics, the company can identify employees who are more likely to purchase a holiday package and focus its marketing efforts accordingly.</a:t>
            </a:r>
          </a:p>
          <a:p>
            <a:pPr>
              <a:lnSpc>
                <a:spcPct val="150000"/>
              </a:lnSpc>
            </a:pPr>
            <a:endParaRPr lang="en-IN" dirty="0">
              <a:cs typeface="Times New Roman" panose="02020603050405020304" pitchFamily="18" charset="0"/>
            </a:endParaRPr>
          </a:p>
          <a:p>
            <a:pPr>
              <a:lnSpc>
                <a:spcPct val="150000"/>
              </a:lnSpc>
            </a:pPr>
            <a:r>
              <a:rPr lang="en-IN" b="1" dirty="0">
                <a:cs typeface="Times New Roman" panose="02020603050405020304" pitchFamily="18" charset="0"/>
              </a:rPr>
              <a:t>Goal:</a:t>
            </a:r>
          </a:p>
          <a:p>
            <a:pPr>
              <a:lnSpc>
                <a:spcPct val="150000"/>
              </a:lnSpc>
            </a:pPr>
            <a:r>
              <a:rPr lang="en-IN" dirty="0">
                <a:cs typeface="Times New Roman" panose="02020603050405020304" pitchFamily="18" charset="0"/>
              </a:rPr>
              <a:t>Develop a predictive model that can determine whether an employee is likely to purchase a holiday package based on demographic and personal attributes such as salary, age, education level, number of children, and foreign status.</a:t>
            </a:r>
          </a:p>
        </p:txBody>
      </p:sp>
    </p:spTree>
    <p:extLst>
      <p:ext uri="{BB962C8B-B14F-4D97-AF65-F5344CB8AC3E}">
        <p14:creationId xmlns:p14="http://schemas.microsoft.com/office/powerpoint/2010/main" val="2334847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D1891-0D6A-6B2F-0F67-C399D89E070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81B2790-73FE-1AF2-EE1F-50B7C6ACAFCE}"/>
              </a:ext>
            </a:extLst>
          </p:cNvPr>
          <p:cNvSpPr txBox="1"/>
          <p:nvPr/>
        </p:nvSpPr>
        <p:spPr>
          <a:xfrm>
            <a:off x="787217" y="560811"/>
            <a:ext cx="9086988" cy="1637436"/>
          </a:xfrm>
          <a:prstGeom prst="rect">
            <a:avLst/>
          </a:prstGeom>
          <a:noFill/>
        </p:spPr>
        <p:txBody>
          <a:bodyPr wrap="square" rtlCol="0">
            <a:spAutoFit/>
          </a:bodyPr>
          <a:lstStyle/>
          <a:p>
            <a:r>
              <a:rPr lang="en-IN" sz="2200" b="1" dirty="0"/>
              <a:t>Dataset Overview:</a:t>
            </a:r>
          </a:p>
          <a:p>
            <a:pPr>
              <a:lnSpc>
                <a:spcPct val="150000"/>
              </a:lnSpc>
            </a:pPr>
            <a:r>
              <a:rPr lang="en-IN" dirty="0"/>
              <a:t>The dataset contains information about </a:t>
            </a:r>
            <a:r>
              <a:rPr lang="en-IN" b="1" dirty="0"/>
              <a:t>872 employees</a:t>
            </a:r>
            <a:r>
              <a:rPr lang="en-IN" dirty="0"/>
              <a:t> of a company. It includes demographic and personal attributes that are used to predict whether an employee will purchase a holiday package offered by a tour and travel agency.</a:t>
            </a:r>
            <a:endParaRPr lang="en-IN" sz="2200" dirty="0"/>
          </a:p>
        </p:txBody>
      </p:sp>
      <p:pic>
        <p:nvPicPr>
          <p:cNvPr id="3" name="Picture 2">
            <a:extLst>
              <a:ext uri="{FF2B5EF4-FFF2-40B4-BE49-F238E27FC236}">
                <a16:creationId xmlns:a16="http://schemas.microsoft.com/office/drawing/2014/main" id="{BC87D5DC-3288-4654-B20C-B41D2C01B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217" y="2294587"/>
            <a:ext cx="5379776" cy="3586517"/>
          </a:xfrm>
          <a:prstGeom prst="rect">
            <a:avLst/>
          </a:prstGeom>
        </p:spPr>
      </p:pic>
      <p:pic>
        <p:nvPicPr>
          <p:cNvPr id="5" name="Picture 4">
            <a:extLst>
              <a:ext uri="{FF2B5EF4-FFF2-40B4-BE49-F238E27FC236}">
                <a16:creationId xmlns:a16="http://schemas.microsoft.com/office/drawing/2014/main" id="{24B71AE1-BDDD-D185-07C8-E3CFD17FE2D2}"/>
              </a:ext>
            </a:extLst>
          </p:cNvPr>
          <p:cNvPicPr>
            <a:picLocks noChangeAspect="1"/>
          </p:cNvPicPr>
          <p:nvPr/>
        </p:nvPicPr>
        <p:blipFill>
          <a:blip r:embed="rId3"/>
          <a:stretch>
            <a:fillRect/>
          </a:stretch>
        </p:blipFill>
        <p:spPr>
          <a:xfrm>
            <a:off x="6270940" y="2611631"/>
            <a:ext cx="5713927" cy="3131327"/>
          </a:xfrm>
          <a:prstGeom prst="rect">
            <a:avLst/>
          </a:prstGeom>
        </p:spPr>
      </p:pic>
    </p:spTree>
    <p:extLst>
      <p:ext uri="{BB962C8B-B14F-4D97-AF65-F5344CB8AC3E}">
        <p14:creationId xmlns:p14="http://schemas.microsoft.com/office/powerpoint/2010/main" val="527226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F6E11-F16E-A173-4117-D3D28412EF3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4C7E6D4-80A1-2874-C125-3E8DC12DD4F6}"/>
              </a:ext>
            </a:extLst>
          </p:cNvPr>
          <p:cNvSpPr txBox="1"/>
          <p:nvPr/>
        </p:nvSpPr>
        <p:spPr>
          <a:xfrm>
            <a:off x="1129295" y="692379"/>
            <a:ext cx="7034521" cy="5262979"/>
          </a:xfrm>
          <a:prstGeom prst="rect">
            <a:avLst/>
          </a:prstGeom>
          <a:noFill/>
        </p:spPr>
        <p:txBody>
          <a:bodyPr wrap="square" rtlCol="0">
            <a:spAutoFit/>
          </a:bodyPr>
          <a:lstStyle/>
          <a:p>
            <a:r>
              <a:rPr lang="en-IN" sz="2200" b="1" dirty="0"/>
              <a:t>Data Preprocessing:</a:t>
            </a:r>
          </a:p>
          <a:p>
            <a:pPr marL="285750" indent="-285750">
              <a:buFont typeface="Arial" panose="020B0604020202020204" pitchFamily="34" charset="0"/>
              <a:buChar char="•"/>
            </a:pPr>
            <a:r>
              <a:rPr lang="en-IN" b="1" dirty="0"/>
              <a:t>Preprocessing Steps Performed</a:t>
            </a:r>
            <a:r>
              <a:rPr lang="en-IN" dirty="0"/>
              <a:t>:</a:t>
            </a:r>
          </a:p>
          <a:p>
            <a:pPr marL="742950" lvl="1" indent="-285750">
              <a:buFont typeface="Arial" panose="020B0604020202020204" pitchFamily="34" charset="0"/>
              <a:buChar char="•"/>
            </a:pPr>
            <a:r>
              <a:rPr lang="en-IN" dirty="0"/>
              <a:t>Checked the dataset for missing values. </a:t>
            </a:r>
          </a:p>
          <a:p>
            <a:pPr marL="742950" lvl="1" indent="-285750">
              <a:buFont typeface="Arial" panose="020B0604020202020204" pitchFamily="34" charset="0"/>
              <a:buChar char="•"/>
            </a:pPr>
            <a:r>
              <a:rPr lang="en-IN" dirty="0"/>
              <a:t>Verified and removed duplicate records (if any). </a:t>
            </a:r>
          </a:p>
          <a:p>
            <a:pPr marL="742950" lvl="1" indent="-285750">
              <a:buFont typeface="Arial" panose="020B0604020202020204" pitchFamily="34" charset="0"/>
              <a:buChar char="•"/>
            </a:pPr>
            <a:r>
              <a:rPr lang="en-IN" dirty="0"/>
              <a:t>Performed outlier detection using the IQR method. </a:t>
            </a:r>
          </a:p>
          <a:p>
            <a:pPr marL="742950" lvl="1" indent="-285750">
              <a:buFont typeface="Arial" panose="020B0604020202020204" pitchFamily="34" charset="0"/>
              <a:buChar char="•"/>
            </a:pPr>
            <a:r>
              <a:rPr lang="en-IN" dirty="0"/>
              <a:t>Defined independent variables (X) and the target variable (y). </a:t>
            </a:r>
          </a:p>
          <a:p>
            <a:pPr marL="742950" lvl="1" indent="-285750">
              <a:buFont typeface="Arial" panose="020B0604020202020204" pitchFamily="34" charset="0"/>
              <a:buChar char="•"/>
            </a:pPr>
            <a:r>
              <a:rPr lang="en-IN" dirty="0"/>
              <a:t>Split the dataset into 80% training data and 20% testing data.</a:t>
            </a:r>
          </a:p>
          <a:p>
            <a:endParaRPr lang="en-IN" dirty="0"/>
          </a:p>
          <a:p>
            <a:r>
              <a:rPr lang="en-IN" sz="2200" b="1" dirty="0"/>
              <a:t>Features Used for Model Training</a:t>
            </a:r>
          </a:p>
          <a:p>
            <a:endParaRPr lang="en-IN" sz="2200" b="1" dirty="0"/>
          </a:p>
          <a:p>
            <a:r>
              <a:rPr lang="en-IN" b="1" dirty="0"/>
              <a:t>Independent Variables (X):</a:t>
            </a:r>
            <a:endParaRPr lang="en-IN" dirty="0"/>
          </a:p>
          <a:p>
            <a:pPr marL="285750" indent="-285750">
              <a:buFont typeface="Arial" panose="020B0604020202020204" pitchFamily="34" charset="0"/>
              <a:buChar char="•"/>
            </a:pPr>
            <a:r>
              <a:rPr lang="en-IN" dirty="0"/>
              <a:t>Salary </a:t>
            </a:r>
          </a:p>
          <a:p>
            <a:pPr marL="285750" indent="-285750">
              <a:buFont typeface="Arial" panose="020B0604020202020204" pitchFamily="34" charset="0"/>
              <a:buChar char="•"/>
            </a:pPr>
            <a:r>
              <a:rPr lang="en-IN" dirty="0"/>
              <a:t>age </a:t>
            </a:r>
          </a:p>
          <a:p>
            <a:pPr marL="285750" indent="-285750">
              <a:buFont typeface="Arial" panose="020B0604020202020204" pitchFamily="34" charset="0"/>
              <a:buChar char="•"/>
            </a:pPr>
            <a:r>
              <a:rPr lang="en-IN" dirty="0" err="1"/>
              <a:t>educ</a:t>
            </a:r>
            <a:r>
              <a:rPr lang="en-IN" dirty="0"/>
              <a:t> </a:t>
            </a:r>
          </a:p>
          <a:p>
            <a:pPr marL="285750" indent="-285750">
              <a:buFont typeface="Arial" panose="020B0604020202020204" pitchFamily="34" charset="0"/>
              <a:buChar char="•"/>
            </a:pPr>
            <a:r>
              <a:rPr lang="en-IN" dirty="0" err="1"/>
              <a:t>no_young_children</a:t>
            </a:r>
            <a:r>
              <a:rPr lang="en-IN" dirty="0"/>
              <a:t> </a:t>
            </a:r>
          </a:p>
          <a:p>
            <a:pPr marL="285750" indent="-285750">
              <a:buFont typeface="Arial" panose="020B0604020202020204" pitchFamily="34" charset="0"/>
              <a:buChar char="•"/>
            </a:pPr>
            <a:r>
              <a:rPr lang="en-IN" dirty="0" err="1"/>
              <a:t>no_older_children</a:t>
            </a:r>
            <a:r>
              <a:rPr lang="en-IN" dirty="0"/>
              <a:t> </a:t>
            </a:r>
          </a:p>
          <a:p>
            <a:pPr marL="285750" indent="-285750">
              <a:buFont typeface="Arial" panose="020B0604020202020204" pitchFamily="34" charset="0"/>
              <a:buChar char="•"/>
            </a:pPr>
            <a:r>
              <a:rPr lang="en-IN" dirty="0"/>
              <a:t>foreign </a:t>
            </a:r>
          </a:p>
          <a:p>
            <a:endParaRPr lang="en-IN" dirty="0"/>
          </a:p>
        </p:txBody>
      </p:sp>
      <p:sp>
        <p:nvSpPr>
          <p:cNvPr id="10" name="TextBox 9">
            <a:extLst>
              <a:ext uri="{FF2B5EF4-FFF2-40B4-BE49-F238E27FC236}">
                <a16:creationId xmlns:a16="http://schemas.microsoft.com/office/drawing/2014/main" id="{796B4764-E560-B649-1E0A-987288293176}"/>
              </a:ext>
            </a:extLst>
          </p:cNvPr>
          <p:cNvSpPr txBox="1"/>
          <p:nvPr/>
        </p:nvSpPr>
        <p:spPr>
          <a:xfrm>
            <a:off x="6933104" y="3627449"/>
            <a:ext cx="2461424" cy="646331"/>
          </a:xfrm>
          <a:prstGeom prst="rect">
            <a:avLst/>
          </a:prstGeom>
          <a:noFill/>
        </p:spPr>
        <p:txBody>
          <a:bodyPr wrap="square" rtlCol="0">
            <a:spAutoFit/>
          </a:bodyPr>
          <a:lstStyle/>
          <a:p>
            <a:r>
              <a:rPr lang="en-IN" b="1" dirty="0"/>
              <a:t>Target Variable (y):</a:t>
            </a:r>
            <a:endParaRPr lang="en-IN" dirty="0"/>
          </a:p>
          <a:p>
            <a:pPr marL="285750" indent="-285750">
              <a:buFont typeface="Arial" panose="020B0604020202020204" pitchFamily="34" charset="0"/>
              <a:buChar char="•"/>
            </a:pPr>
            <a:r>
              <a:rPr lang="en-IN" dirty="0" err="1"/>
              <a:t>Holliday_Package</a:t>
            </a:r>
            <a:endParaRPr lang="en-IN" dirty="0"/>
          </a:p>
        </p:txBody>
      </p:sp>
    </p:spTree>
    <p:extLst>
      <p:ext uri="{BB962C8B-B14F-4D97-AF65-F5344CB8AC3E}">
        <p14:creationId xmlns:p14="http://schemas.microsoft.com/office/powerpoint/2010/main" val="2532035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D351B-A2FE-796B-E7A4-BBD578DA848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DBC26023-E18F-9722-DA19-2A4CE7CA6C35}"/>
              </a:ext>
            </a:extLst>
          </p:cNvPr>
          <p:cNvSpPr txBox="1"/>
          <p:nvPr/>
        </p:nvSpPr>
        <p:spPr>
          <a:xfrm>
            <a:off x="1473017" y="851357"/>
            <a:ext cx="2461424" cy="369332"/>
          </a:xfrm>
          <a:prstGeom prst="rect">
            <a:avLst/>
          </a:prstGeom>
          <a:noFill/>
        </p:spPr>
        <p:txBody>
          <a:bodyPr wrap="square" rtlCol="0">
            <a:spAutoFit/>
          </a:bodyPr>
          <a:lstStyle/>
          <a:p>
            <a:r>
              <a:rPr lang="en-IN" b="1" dirty="0"/>
              <a:t>Data Preprocessing:</a:t>
            </a:r>
          </a:p>
        </p:txBody>
      </p:sp>
      <p:pic>
        <p:nvPicPr>
          <p:cNvPr id="5" name="Picture 4">
            <a:extLst>
              <a:ext uri="{FF2B5EF4-FFF2-40B4-BE49-F238E27FC236}">
                <a16:creationId xmlns:a16="http://schemas.microsoft.com/office/drawing/2014/main" id="{67595014-9EAD-A231-6AF2-EA676455D27B}"/>
              </a:ext>
            </a:extLst>
          </p:cNvPr>
          <p:cNvPicPr>
            <a:picLocks noChangeAspect="1"/>
          </p:cNvPicPr>
          <p:nvPr/>
        </p:nvPicPr>
        <p:blipFill>
          <a:blip r:embed="rId2"/>
          <a:stretch>
            <a:fillRect/>
          </a:stretch>
        </p:blipFill>
        <p:spPr>
          <a:xfrm>
            <a:off x="1378005" y="1807293"/>
            <a:ext cx="3225966" cy="1035103"/>
          </a:xfrm>
          <a:prstGeom prst="rect">
            <a:avLst/>
          </a:prstGeom>
        </p:spPr>
      </p:pic>
      <p:pic>
        <p:nvPicPr>
          <p:cNvPr id="8" name="Picture 7">
            <a:extLst>
              <a:ext uri="{FF2B5EF4-FFF2-40B4-BE49-F238E27FC236}">
                <a16:creationId xmlns:a16="http://schemas.microsoft.com/office/drawing/2014/main" id="{58A5EBEE-FE59-AE7D-C6AC-2C99C8C3A80F}"/>
              </a:ext>
            </a:extLst>
          </p:cNvPr>
          <p:cNvPicPr>
            <a:picLocks noChangeAspect="1"/>
          </p:cNvPicPr>
          <p:nvPr/>
        </p:nvPicPr>
        <p:blipFill>
          <a:blip r:embed="rId3"/>
          <a:stretch>
            <a:fillRect/>
          </a:stretch>
        </p:blipFill>
        <p:spPr>
          <a:xfrm>
            <a:off x="6749234" y="266215"/>
            <a:ext cx="4216988" cy="3014109"/>
          </a:xfrm>
          <a:prstGeom prst="rect">
            <a:avLst/>
          </a:prstGeom>
        </p:spPr>
      </p:pic>
      <p:pic>
        <p:nvPicPr>
          <p:cNvPr id="11" name="Picture 10">
            <a:extLst>
              <a:ext uri="{FF2B5EF4-FFF2-40B4-BE49-F238E27FC236}">
                <a16:creationId xmlns:a16="http://schemas.microsoft.com/office/drawing/2014/main" id="{866F1B0A-0B17-B7A4-32F6-A1E149E82356}"/>
              </a:ext>
            </a:extLst>
          </p:cNvPr>
          <p:cNvPicPr>
            <a:picLocks noChangeAspect="1"/>
          </p:cNvPicPr>
          <p:nvPr/>
        </p:nvPicPr>
        <p:blipFill>
          <a:blip r:embed="rId4"/>
          <a:stretch>
            <a:fillRect/>
          </a:stretch>
        </p:blipFill>
        <p:spPr>
          <a:xfrm>
            <a:off x="863848" y="3429000"/>
            <a:ext cx="4735257" cy="3058386"/>
          </a:xfrm>
          <a:prstGeom prst="rect">
            <a:avLst/>
          </a:prstGeom>
        </p:spPr>
      </p:pic>
      <p:pic>
        <p:nvPicPr>
          <p:cNvPr id="13" name="Picture 12">
            <a:extLst>
              <a:ext uri="{FF2B5EF4-FFF2-40B4-BE49-F238E27FC236}">
                <a16:creationId xmlns:a16="http://schemas.microsoft.com/office/drawing/2014/main" id="{51B099B3-7B04-E75E-CB4B-61776B7D0C1F}"/>
              </a:ext>
            </a:extLst>
          </p:cNvPr>
          <p:cNvPicPr>
            <a:picLocks noChangeAspect="1"/>
          </p:cNvPicPr>
          <p:nvPr/>
        </p:nvPicPr>
        <p:blipFill>
          <a:blip r:embed="rId5"/>
          <a:stretch>
            <a:fillRect/>
          </a:stretch>
        </p:blipFill>
        <p:spPr>
          <a:xfrm>
            <a:off x="6808269" y="3429000"/>
            <a:ext cx="3955184" cy="2953986"/>
          </a:xfrm>
          <a:prstGeom prst="rect">
            <a:avLst/>
          </a:prstGeom>
        </p:spPr>
      </p:pic>
    </p:spTree>
    <p:extLst>
      <p:ext uri="{BB962C8B-B14F-4D97-AF65-F5344CB8AC3E}">
        <p14:creationId xmlns:p14="http://schemas.microsoft.com/office/powerpoint/2010/main" val="1893944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72B2A-CE42-9ABE-6830-3978F50366D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CC3D7CC-1882-5982-2F51-0AD789F9B4A6}"/>
              </a:ext>
            </a:extLst>
          </p:cNvPr>
          <p:cNvSpPr txBox="1"/>
          <p:nvPr/>
        </p:nvSpPr>
        <p:spPr>
          <a:xfrm>
            <a:off x="1378178" y="839687"/>
            <a:ext cx="4033119" cy="369332"/>
          </a:xfrm>
          <a:prstGeom prst="rect">
            <a:avLst/>
          </a:prstGeom>
          <a:noFill/>
        </p:spPr>
        <p:txBody>
          <a:bodyPr wrap="square" rtlCol="0">
            <a:spAutoFit/>
          </a:bodyPr>
          <a:lstStyle/>
          <a:p>
            <a:r>
              <a:rPr lang="en-IN" dirty="0"/>
              <a:t>Salary Distribution</a:t>
            </a:r>
            <a:endParaRPr lang="en-IN" b="1" dirty="0"/>
          </a:p>
        </p:txBody>
      </p:sp>
      <p:sp>
        <p:nvSpPr>
          <p:cNvPr id="3" name="TextBox 2">
            <a:extLst>
              <a:ext uri="{FF2B5EF4-FFF2-40B4-BE49-F238E27FC236}">
                <a16:creationId xmlns:a16="http://schemas.microsoft.com/office/drawing/2014/main" id="{76E3AD80-0569-D0CC-9AAA-D85745816FF6}"/>
              </a:ext>
            </a:extLst>
          </p:cNvPr>
          <p:cNvSpPr txBox="1"/>
          <p:nvPr/>
        </p:nvSpPr>
        <p:spPr>
          <a:xfrm>
            <a:off x="1378178" y="421173"/>
            <a:ext cx="4641074" cy="430887"/>
          </a:xfrm>
          <a:prstGeom prst="rect">
            <a:avLst/>
          </a:prstGeom>
          <a:noFill/>
        </p:spPr>
        <p:txBody>
          <a:bodyPr wrap="square" rtlCol="0">
            <a:spAutoFit/>
          </a:bodyPr>
          <a:lstStyle/>
          <a:p>
            <a:r>
              <a:rPr lang="en-IN" sz="2200" b="1" dirty="0"/>
              <a:t>Exploratory Data Analysis (EDA)</a:t>
            </a:r>
          </a:p>
        </p:txBody>
      </p:sp>
      <p:pic>
        <p:nvPicPr>
          <p:cNvPr id="6" name="Picture 5">
            <a:extLst>
              <a:ext uri="{FF2B5EF4-FFF2-40B4-BE49-F238E27FC236}">
                <a16:creationId xmlns:a16="http://schemas.microsoft.com/office/drawing/2014/main" id="{77603DB1-EA34-C89A-50EE-FE04537040CF}"/>
              </a:ext>
            </a:extLst>
          </p:cNvPr>
          <p:cNvPicPr>
            <a:picLocks noChangeAspect="1"/>
          </p:cNvPicPr>
          <p:nvPr/>
        </p:nvPicPr>
        <p:blipFill>
          <a:blip r:embed="rId2"/>
          <a:stretch>
            <a:fillRect/>
          </a:stretch>
        </p:blipFill>
        <p:spPr>
          <a:xfrm>
            <a:off x="1320540" y="1209019"/>
            <a:ext cx="3563783" cy="2500320"/>
          </a:xfrm>
          <a:prstGeom prst="rect">
            <a:avLst/>
          </a:prstGeom>
        </p:spPr>
      </p:pic>
      <p:sp>
        <p:nvSpPr>
          <p:cNvPr id="9" name="TextBox 8">
            <a:extLst>
              <a:ext uri="{FF2B5EF4-FFF2-40B4-BE49-F238E27FC236}">
                <a16:creationId xmlns:a16="http://schemas.microsoft.com/office/drawing/2014/main" id="{B3933474-EEC6-AAA4-BFB2-306F0C34399F}"/>
              </a:ext>
            </a:extLst>
          </p:cNvPr>
          <p:cNvSpPr txBox="1"/>
          <p:nvPr/>
        </p:nvSpPr>
        <p:spPr>
          <a:xfrm>
            <a:off x="1464014" y="3802266"/>
            <a:ext cx="4033119" cy="369332"/>
          </a:xfrm>
          <a:prstGeom prst="rect">
            <a:avLst/>
          </a:prstGeom>
          <a:noFill/>
        </p:spPr>
        <p:txBody>
          <a:bodyPr wrap="square" rtlCol="0">
            <a:spAutoFit/>
          </a:bodyPr>
          <a:lstStyle/>
          <a:p>
            <a:r>
              <a:rPr lang="en-IN" dirty="0"/>
              <a:t>Age Distribution</a:t>
            </a:r>
            <a:endParaRPr lang="en-IN" b="1" dirty="0"/>
          </a:p>
        </p:txBody>
      </p:sp>
      <p:sp>
        <p:nvSpPr>
          <p:cNvPr id="20" name="TextBox 19">
            <a:extLst>
              <a:ext uri="{FF2B5EF4-FFF2-40B4-BE49-F238E27FC236}">
                <a16:creationId xmlns:a16="http://schemas.microsoft.com/office/drawing/2014/main" id="{1454EF71-C545-CF2F-BC17-C2A731EF6C33}"/>
              </a:ext>
            </a:extLst>
          </p:cNvPr>
          <p:cNvSpPr txBox="1"/>
          <p:nvPr/>
        </p:nvSpPr>
        <p:spPr>
          <a:xfrm>
            <a:off x="7219813" y="839687"/>
            <a:ext cx="4033119" cy="369332"/>
          </a:xfrm>
          <a:prstGeom prst="rect">
            <a:avLst/>
          </a:prstGeom>
          <a:noFill/>
        </p:spPr>
        <p:txBody>
          <a:bodyPr wrap="square" rtlCol="0">
            <a:spAutoFit/>
          </a:bodyPr>
          <a:lstStyle/>
          <a:p>
            <a:r>
              <a:rPr lang="en-IN" dirty="0"/>
              <a:t>Holiday Package vs. Salary</a:t>
            </a:r>
            <a:endParaRPr lang="en-IN" b="1" dirty="0"/>
          </a:p>
        </p:txBody>
      </p:sp>
      <p:pic>
        <p:nvPicPr>
          <p:cNvPr id="28" name="Picture 27">
            <a:extLst>
              <a:ext uri="{FF2B5EF4-FFF2-40B4-BE49-F238E27FC236}">
                <a16:creationId xmlns:a16="http://schemas.microsoft.com/office/drawing/2014/main" id="{88C32B7E-C233-F7B5-7DED-F75BAB955095}"/>
              </a:ext>
            </a:extLst>
          </p:cNvPr>
          <p:cNvPicPr>
            <a:picLocks noChangeAspect="1"/>
          </p:cNvPicPr>
          <p:nvPr/>
        </p:nvPicPr>
        <p:blipFill>
          <a:blip r:embed="rId3"/>
          <a:srcRect r="10747"/>
          <a:stretch>
            <a:fillRect/>
          </a:stretch>
        </p:blipFill>
        <p:spPr>
          <a:xfrm>
            <a:off x="1320540" y="4127853"/>
            <a:ext cx="3410181" cy="2477231"/>
          </a:xfrm>
          <a:prstGeom prst="rect">
            <a:avLst/>
          </a:prstGeom>
        </p:spPr>
      </p:pic>
      <p:pic>
        <p:nvPicPr>
          <p:cNvPr id="30" name="Picture 29">
            <a:extLst>
              <a:ext uri="{FF2B5EF4-FFF2-40B4-BE49-F238E27FC236}">
                <a16:creationId xmlns:a16="http://schemas.microsoft.com/office/drawing/2014/main" id="{700AB9AE-8B22-1A4B-9928-396E33BC03E6}"/>
              </a:ext>
            </a:extLst>
          </p:cNvPr>
          <p:cNvPicPr>
            <a:picLocks noChangeAspect="1"/>
          </p:cNvPicPr>
          <p:nvPr/>
        </p:nvPicPr>
        <p:blipFill>
          <a:blip r:embed="rId4"/>
          <a:stretch>
            <a:fillRect/>
          </a:stretch>
        </p:blipFill>
        <p:spPr>
          <a:xfrm>
            <a:off x="6694869" y="2009319"/>
            <a:ext cx="4883939" cy="3727061"/>
          </a:xfrm>
          <a:prstGeom prst="rect">
            <a:avLst/>
          </a:prstGeom>
        </p:spPr>
      </p:pic>
    </p:spTree>
    <p:extLst>
      <p:ext uri="{BB962C8B-B14F-4D97-AF65-F5344CB8AC3E}">
        <p14:creationId xmlns:p14="http://schemas.microsoft.com/office/powerpoint/2010/main" val="4127345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724FA-8D2E-28CF-3129-23D3F3C4A96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75F7041-9772-05F3-8060-27BBAB70D635}"/>
              </a:ext>
            </a:extLst>
          </p:cNvPr>
          <p:cNvSpPr txBox="1"/>
          <p:nvPr/>
        </p:nvSpPr>
        <p:spPr>
          <a:xfrm>
            <a:off x="1378178" y="1083088"/>
            <a:ext cx="4033119" cy="369332"/>
          </a:xfrm>
          <a:prstGeom prst="rect">
            <a:avLst/>
          </a:prstGeom>
          <a:noFill/>
        </p:spPr>
        <p:txBody>
          <a:bodyPr wrap="square" rtlCol="0">
            <a:spAutoFit/>
          </a:bodyPr>
          <a:lstStyle/>
          <a:p>
            <a:r>
              <a:rPr lang="en-IN" b="1" dirty="0"/>
              <a:t>Correlation Heatmap </a:t>
            </a:r>
          </a:p>
        </p:txBody>
      </p:sp>
      <p:sp>
        <p:nvSpPr>
          <p:cNvPr id="3" name="TextBox 2">
            <a:extLst>
              <a:ext uri="{FF2B5EF4-FFF2-40B4-BE49-F238E27FC236}">
                <a16:creationId xmlns:a16="http://schemas.microsoft.com/office/drawing/2014/main" id="{98622D26-3A9B-28AA-D2BB-9EBA82E31BA8}"/>
              </a:ext>
            </a:extLst>
          </p:cNvPr>
          <p:cNvSpPr txBox="1"/>
          <p:nvPr/>
        </p:nvSpPr>
        <p:spPr>
          <a:xfrm>
            <a:off x="1378178" y="421173"/>
            <a:ext cx="4717822" cy="430887"/>
          </a:xfrm>
          <a:prstGeom prst="rect">
            <a:avLst/>
          </a:prstGeom>
          <a:noFill/>
        </p:spPr>
        <p:txBody>
          <a:bodyPr wrap="square" rtlCol="0">
            <a:spAutoFit/>
          </a:bodyPr>
          <a:lstStyle/>
          <a:p>
            <a:r>
              <a:rPr lang="en-IN" sz="2200" b="1" dirty="0"/>
              <a:t>Exploratory Data Analysis (EDA)</a:t>
            </a:r>
          </a:p>
        </p:txBody>
      </p:sp>
      <p:pic>
        <p:nvPicPr>
          <p:cNvPr id="4" name="Picture 3">
            <a:extLst>
              <a:ext uri="{FF2B5EF4-FFF2-40B4-BE49-F238E27FC236}">
                <a16:creationId xmlns:a16="http://schemas.microsoft.com/office/drawing/2014/main" id="{C6625117-7F61-82DC-7073-52A9281758EC}"/>
              </a:ext>
            </a:extLst>
          </p:cNvPr>
          <p:cNvPicPr>
            <a:picLocks noChangeAspect="1"/>
          </p:cNvPicPr>
          <p:nvPr/>
        </p:nvPicPr>
        <p:blipFill>
          <a:blip r:embed="rId2"/>
          <a:stretch>
            <a:fillRect/>
          </a:stretch>
        </p:blipFill>
        <p:spPr>
          <a:xfrm>
            <a:off x="348763" y="1498469"/>
            <a:ext cx="6776651" cy="5218319"/>
          </a:xfrm>
          <a:prstGeom prst="rect">
            <a:avLst/>
          </a:prstGeom>
        </p:spPr>
      </p:pic>
      <p:pic>
        <p:nvPicPr>
          <p:cNvPr id="5" name="Picture 4">
            <a:extLst>
              <a:ext uri="{FF2B5EF4-FFF2-40B4-BE49-F238E27FC236}">
                <a16:creationId xmlns:a16="http://schemas.microsoft.com/office/drawing/2014/main" id="{25481F63-45F9-C1B8-3D05-4F4D37124583}"/>
              </a:ext>
            </a:extLst>
          </p:cNvPr>
          <p:cNvPicPr>
            <a:picLocks noChangeAspect="1"/>
          </p:cNvPicPr>
          <p:nvPr/>
        </p:nvPicPr>
        <p:blipFill>
          <a:blip r:embed="rId3"/>
          <a:stretch>
            <a:fillRect/>
          </a:stretch>
        </p:blipFill>
        <p:spPr>
          <a:xfrm>
            <a:off x="6778523" y="1932645"/>
            <a:ext cx="5199874" cy="2812265"/>
          </a:xfrm>
          <a:prstGeom prst="rect">
            <a:avLst/>
          </a:prstGeom>
        </p:spPr>
      </p:pic>
      <p:sp>
        <p:nvSpPr>
          <p:cNvPr id="7" name="TextBox 6">
            <a:extLst>
              <a:ext uri="{FF2B5EF4-FFF2-40B4-BE49-F238E27FC236}">
                <a16:creationId xmlns:a16="http://schemas.microsoft.com/office/drawing/2014/main" id="{5F941E16-4941-DB41-E9BD-BDE92567C70D}"/>
              </a:ext>
            </a:extLst>
          </p:cNvPr>
          <p:cNvSpPr txBox="1"/>
          <p:nvPr/>
        </p:nvSpPr>
        <p:spPr>
          <a:xfrm>
            <a:off x="7361901" y="1024979"/>
            <a:ext cx="4033119" cy="369332"/>
          </a:xfrm>
          <a:prstGeom prst="rect">
            <a:avLst/>
          </a:prstGeom>
          <a:noFill/>
        </p:spPr>
        <p:txBody>
          <a:bodyPr wrap="square" rtlCol="0">
            <a:spAutoFit/>
          </a:bodyPr>
          <a:lstStyle/>
          <a:p>
            <a:r>
              <a:rPr lang="en-IN" b="1" dirty="0"/>
              <a:t>Feature:</a:t>
            </a:r>
          </a:p>
        </p:txBody>
      </p:sp>
    </p:spTree>
    <p:extLst>
      <p:ext uri="{BB962C8B-B14F-4D97-AF65-F5344CB8AC3E}">
        <p14:creationId xmlns:p14="http://schemas.microsoft.com/office/powerpoint/2010/main" val="1856249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EA7F9-3A1F-9167-9479-CC9A29CA330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E3B9A954-AD92-E392-0680-28B2D56447A1}"/>
              </a:ext>
            </a:extLst>
          </p:cNvPr>
          <p:cNvSpPr txBox="1"/>
          <p:nvPr/>
        </p:nvSpPr>
        <p:spPr>
          <a:xfrm>
            <a:off x="1378178" y="1083088"/>
            <a:ext cx="4033119" cy="369332"/>
          </a:xfrm>
          <a:prstGeom prst="rect">
            <a:avLst/>
          </a:prstGeom>
          <a:noFill/>
        </p:spPr>
        <p:txBody>
          <a:bodyPr wrap="square" rtlCol="0">
            <a:spAutoFit/>
          </a:bodyPr>
          <a:lstStyle/>
          <a:p>
            <a:r>
              <a:rPr lang="en-IN" b="1" dirty="0"/>
              <a:t>Bi variate</a:t>
            </a:r>
          </a:p>
        </p:txBody>
      </p:sp>
      <p:sp>
        <p:nvSpPr>
          <p:cNvPr id="3" name="TextBox 2">
            <a:extLst>
              <a:ext uri="{FF2B5EF4-FFF2-40B4-BE49-F238E27FC236}">
                <a16:creationId xmlns:a16="http://schemas.microsoft.com/office/drawing/2014/main" id="{6EC6F81F-3CBF-16D6-F1BC-4C9D37E11194}"/>
              </a:ext>
            </a:extLst>
          </p:cNvPr>
          <p:cNvSpPr txBox="1"/>
          <p:nvPr/>
        </p:nvSpPr>
        <p:spPr>
          <a:xfrm>
            <a:off x="1378178" y="421173"/>
            <a:ext cx="4717822" cy="430887"/>
          </a:xfrm>
          <a:prstGeom prst="rect">
            <a:avLst/>
          </a:prstGeom>
          <a:noFill/>
        </p:spPr>
        <p:txBody>
          <a:bodyPr wrap="square" rtlCol="0">
            <a:spAutoFit/>
          </a:bodyPr>
          <a:lstStyle/>
          <a:p>
            <a:r>
              <a:rPr lang="en-IN" sz="2200" b="1" dirty="0"/>
              <a:t>Exploratory Data Analysis (EDA)</a:t>
            </a:r>
          </a:p>
        </p:txBody>
      </p:sp>
      <p:pic>
        <p:nvPicPr>
          <p:cNvPr id="5" name="Picture 4">
            <a:extLst>
              <a:ext uri="{FF2B5EF4-FFF2-40B4-BE49-F238E27FC236}">
                <a16:creationId xmlns:a16="http://schemas.microsoft.com/office/drawing/2014/main" id="{AC3BCCE6-6C39-8EF0-A83D-FB153A1E8897}"/>
              </a:ext>
            </a:extLst>
          </p:cNvPr>
          <p:cNvPicPr>
            <a:picLocks noChangeAspect="1"/>
          </p:cNvPicPr>
          <p:nvPr/>
        </p:nvPicPr>
        <p:blipFill>
          <a:blip r:embed="rId2"/>
          <a:stretch>
            <a:fillRect/>
          </a:stretch>
        </p:blipFill>
        <p:spPr>
          <a:xfrm>
            <a:off x="735416" y="1987708"/>
            <a:ext cx="5318642" cy="3551319"/>
          </a:xfrm>
          <a:prstGeom prst="rect">
            <a:avLst/>
          </a:prstGeom>
        </p:spPr>
      </p:pic>
      <p:pic>
        <p:nvPicPr>
          <p:cNvPr id="7" name="Picture 6">
            <a:extLst>
              <a:ext uri="{FF2B5EF4-FFF2-40B4-BE49-F238E27FC236}">
                <a16:creationId xmlns:a16="http://schemas.microsoft.com/office/drawing/2014/main" id="{B69A9C70-A003-C127-3E04-8C1A51910E77}"/>
              </a:ext>
            </a:extLst>
          </p:cNvPr>
          <p:cNvPicPr>
            <a:picLocks noChangeAspect="1"/>
          </p:cNvPicPr>
          <p:nvPr/>
        </p:nvPicPr>
        <p:blipFill>
          <a:blip r:embed="rId3"/>
          <a:stretch>
            <a:fillRect/>
          </a:stretch>
        </p:blipFill>
        <p:spPr>
          <a:xfrm>
            <a:off x="6096000" y="1763533"/>
            <a:ext cx="5857914" cy="3775494"/>
          </a:xfrm>
          <a:prstGeom prst="rect">
            <a:avLst/>
          </a:prstGeom>
        </p:spPr>
      </p:pic>
    </p:spTree>
    <p:extLst>
      <p:ext uri="{BB962C8B-B14F-4D97-AF65-F5344CB8AC3E}">
        <p14:creationId xmlns:p14="http://schemas.microsoft.com/office/powerpoint/2010/main" val="2370494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E3FE3-80FE-C9A6-F31B-DEA33C88AF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7391B5-B98C-2BDD-87B6-7FFB5E62989A}"/>
              </a:ext>
            </a:extLst>
          </p:cNvPr>
          <p:cNvSpPr txBox="1"/>
          <p:nvPr/>
        </p:nvSpPr>
        <p:spPr>
          <a:xfrm>
            <a:off x="1378178" y="421173"/>
            <a:ext cx="4717822" cy="461665"/>
          </a:xfrm>
          <a:prstGeom prst="rect">
            <a:avLst/>
          </a:prstGeom>
          <a:noFill/>
        </p:spPr>
        <p:txBody>
          <a:bodyPr wrap="square" rtlCol="0">
            <a:spAutoFit/>
          </a:bodyPr>
          <a:lstStyle/>
          <a:p>
            <a:r>
              <a:rPr lang="en-IN" sz="2400" b="1" dirty="0"/>
              <a:t>Logistic Regression Model</a:t>
            </a:r>
            <a:endParaRPr lang="en-IN" sz="2200" b="1" dirty="0"/>
          </a:p>
        </p:txBody>
      </p:sp>
      <p:pic>
        <p:nvPicPr>
          <p:cNvPr id="4" name="Picture 3">
            <a:extLst>
              <a:ext uri="{FF2B5EF4-FFF2-40B4-BE49-F238E27FC236}">
                <a16:creationId xmlns:a16="http://schemas.microsoft.com/office/drawing/2014/main" id="{02C420D7-4167-3227-3E25-DB41E37467CC}"/>
              </a:ext>
            </a:extLst>
          </p:cNvPr>
          <p:cNvPicPr>
            <a:picLocks noChangeAspect="1"/>
          </p:cNvPicPr>
          <p:nvPr/>
        </p:nvPicPr>
        <p:blipFill>
          <a:blip r:embed="rId2"/>
          <a:stretch>
            <a:fillRect/>
          </a:stretch>
        </p:blipFill>
        <p:spPr>
          <a:xfrm>
            <a:off x="1378178" y="1160427"/>
            <a:ext cx="2495678" cy="1549480"/>
          </a:xfrm>
          <a:prstGeom prst="rect">
            <a:avLst/>
          </a:prstGeom>
        </p:spPr>
      </p:pic>
      <p:pic>
        <p:nvPicPr>
          <p:cNvPr id="8" name="Picture 7">
            <a:extLst>
              <a:ext uri="{FF2B5EF4-FFF2-40B4-BE49-F238E27FC236}">
                <a16:creationId xmlns:a16="http://schemas.microsoft.com/office/drawing/2014/main" id="{C3C88026-AEF3-A067-D5E5-AB889DE75038}"/>
              </a:ext>
            </a:extLst>
          </p:cNvPr>
          <p:cNvPicPr>
            <a:picLocks noChangeAspect="1"/>
          </p:cNvPicPr>
          <p:nvPr/>
        </p:nvPicPr>
        <p:blipFill>
          <a:blip r:embed="rId3"/>
          <a:stretch>
            <a:fillRect/>
          </a:stretch>
        </p:blipFill>
        <p:spPr>
          <a:xfrm>
            <a:off x="5056999" y="1098170"/>
            <a:ext cx="3095923" cy="1332261"/>
          </a:xfrm>
          <a:prstGeom prst="rect">
            <a:avLst/>
          </a:prstGeom>
        </p:spPr>
      </p:pic>
      <p:pic>
        <p:nvPicPr>
          <p:cNvPr id="11" name="Picture 10">
            <a:extLst>
              <a:ext uri="{FF2B5EF4-FFF2-40B4-BE49-F238E27FC236}">
                <a16:creationId xmlns:a16="http://schemas.microsoft.com/office/drawing/2014/main" id="{47B3D440-BEB2-0166-41DE-A85B5C0962FD}"/>
              </a:ext>
            </a:extLst>
          </p:cNvPr>
          <p:cNvPicPr>
            <a:picLocks noChangeAspect="1"/>
          </p:cNvPicPr>
          <p:nvPr/>
        </p:nvPicPr>
        <p:blipFill>
          <a:blip r:embed="rId4"/>
          <a:stretch>
            <a:fillRect/>
          </a:stretch>
        </p:blipFill>
        <p:spPr>
          <a:xfrm>
            <a:off x="911351" y="2989383"/>
            <a:ext cx="4572456" cy="3277601"/>
          </a:xfrm>
          <a:prstGeom prst="rect">
            <a:avLst/>
          </a:prstGeom>
        </p:spPr>
      </p:pic>
      <p:sp>
        <p:nvSpPr>
          <p:cNvPr id="13" name="TextBox 12">
            <a:extLst>
              <a:ext uri="{FF2B5EF4-FFF2-40B4-BE49-F238E27FC236}">
                <a16:creationId xmlns:a16="http://schemas.microsoft.com/office/drawing/2014/main" id="{BA172491-4E12-5BBD-A349-08520599289A}"/>
              </a:ext>
            </a:extLst>
          </p:cNvPr>
          <p:cNvSpPr txBox="1"/>
          <p:nvPr/>
        </p:nvSpPr>
        <p:spPr>
          <a:xfrm>
            <a:off x="5966076" y="3429000"/>
            <a:ext cx="4960674" cy="2031325"/>
          </a:xfrm>
          <a:prstGeom prst="rect">
            <a:avLst/>
          </a:prstGeom>
          <a:noFill/>
        </p:spPr>
        <p:txBody>
          <a:bodyPr wrap="square" rtlCol="0">
            <a:spAutoFit/>
          </a:bodyPr>
          <a:lstStyle/>
          <a:p>
            <a:r>
              <a:rPr lang="en-IN" dirty="0"/>
              <a:t>A sample employee with a salary of ₹60,000, aged 35 years, having 14 years of education, one young child, one older child, and not being a foreign employee was evaluated using the Logistic Regression model. The model estimated a purchase probability of 25.63% and classified the employee as "Will Not Purchase"</a:t>
            </a:r>
          </a:p>
        </p:txBody>
      </p:sp>
    </p:spTree>
    <p:extLst>
      <p:ext uri="{BB962C8B-B14F-4D97-AF65-F5344CB8AC3E}">
        <p14:creationId xmlns:p14="http://schemas.microsoft.com/office/powerpoint/2010/main" val="2211047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BB131-3DCB-4298-0D76-B9A58B5B6E1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D45413-1752-0342-D964-7A21CBD4A22C}"/>
              </a:ext>
            </a:extLst>
          </p:cNvPr>
          <p:cNvSpPr txBox="1"/>
          <p:nvPr/>
        </p:nvSpPr>
        <p:spPr>
          <a:xfrm>
            <a:off x="1378178" y="421173"/>
            <a:ext cx="4717822" cy="461665"/>
          </a:xfrm>
          <a:prstGeom prst="rect">
            <a:avLst/>
          </a:prstGeom>
          <a:noFill/>
        </p:spPr>
        <p:txBody>
          <a:bodyPr wrap="square" rtlCol="0">
            <a:spAutoFit/>
          </a:bodyPr>
          <a:lstStyle/>
          <a:p>
            <a:r>
              <a:rPr lang="en-IN" sz="2400" b="1" dirty="0"/>
              <a:t>Results:</a:t>
            </a:r>
            <a:endParaRPr lang="en-IN" sz="2200" b="1" dirty="0"/>
          </a:p>
        </p:txBody>
      </p:sp>
      <p:sp>
        <p:nvSpPr>
          <p:cNvPr id="5" name="TextBox 4">
            <a:extLst>
              <a:ext uri="{FF2B5EF4-FFF2-40B4-BE49-F238E27FC236}">
                <a16:creationId xmlns:a16="http://schemas.microsoft.com/office/drawing/2014/main" id="{38759522-FC54-CA9C-EE37-909587FB9F30}"/>
              </a:ext>
            </a:extLst>
          </p:cNvPr>
          <p:cNvSpPr txBox="1"/>
          <p:nvPr/>
        </p:nvSpPr>
        <p:spPr>
          <a:xfrm>
            <a:off x="1256751" y="1225230"/>
            <a:ext cx="9946293" cy="3970318"/>
          </a:xfrm>
          <a:prstGeom prst="rect">
            <a:avLst/>
          </a:prstGeom>
          <a:noFill/>
        </p:spPr>
        <p:txBody>
          <a:bodyPr wrap="square" rtlCol="0">
            <a:spAutoFit/>
          </a:bodyPr>
          <a:lstStyle/>
          <a:p>
            <a:r>
              <a:rPr lang="en-IN" b="1" dirty="0"/>
              <a:t>Significant Predictors:</a:t>
            </a:r>
          </a:p>
          <a:p>
            <a:pPr marL="285750" indent="-285750">
              <a:buFont typeface="Arial" panose="020B0604020202020204" pitchFamily="34" charset="0"/>
              <a:buChar char="•"/>
            </a:pPr>
            <a:r>
              <a:rPr lang="en-IN" b="1" dirty="0"/>
              <a:t>Salary</a:t>
            </a:r>
            <a:r>
              <a:rPr lang="en-IN" dirty="0"/>
              <a:t> significantly influences the likelihood of purchasing a holiday package . </a:t>
            </a:r>
          </a:p>
          <a:p>
            <a:pPr marL="285750" indent="-285750">
              <a:buFont typeface="Arial" panose="020B0604020202020204" pitchFamily="34" charset="0"/>
              <a:buChar char="•"/>
            </a:pPr>
            <a:r>
              <a:rPr lang="en-IN" b="1" dirty="0"/>
              <a:t>Age</a:t>
            </a:r>
            <a:r>
              <a:rPr lang="en-IN" dirty="0"/>
              <a:t> is a significant predictor, with increasing age associated with a lower probability of purchase (</a:t>
            </a:r>
            <a:r>
              <a:rPr lang="en-IN" b="1" dirty="0"/>
              <a:t>p &lt; 0.001</a:t>
            </a:r>
            <a:r>
              <a:rPr lang="en-IN" dirty="0"/>
              <a:t>). </a:t>
            </a:r>
          </a:p>
          <a:p>
            <a:pPr marL="285750" indent="-285750">
              <a:buFont typeface="Arial" panose="020B0604020202020204" pitchFamily="34" charset="0"/>
              <a:buChar char="•"/>
            </a:pPr>
            <a:r>
              <a:rPr lang="en-IN" b="1" dirty="0"/>
              <a:t>Number of Young Children</a:t>
            </a:r>
            <a:r>
              <a:rPr lang="en-IN" dirty="0"/>
              <a:t> has a significant negative impact on purchase decisions (</a:t>
            </a:r>
            <a:r>
              <a:rPr lang="en-IN" b="1" dirty="0"/>
              <a:t>p &lt; 0.001</a:t>
            </a:r>
            <a:r>
              <a:rPr lang="en-IN" dirty="0"/>
              <a:t>). </a:t>
            </a:r>
          </a:p>
          <a:p>
            <a:pPr marL="285750" indent="-285750">
              <a:buFont typeface="Arial" panose="020B0604020202020204" pitchFamily="34" charset="0"/>
              <a:buChar char="•"/>
            </a:pPr>
            <a:r>
              <a:rPr lang="en-IN" b="1" dirty="0"/>
              <a:t>Foreign Status</a:t>
            </a:r>
            <a:r>
              <a:rPr lang="en-IN" dirty="0"/>
              <a:t> is a significant positive predictor of holiday package purchase (</a:t>
            </a:r>
            <a:r>
              <a:rPr lang="en-IN" b="1" dirty="0"/>
              <a:t>p &lt; 0.001</a:t>
            </a:r>
            <a:r>
              <a:rPr lang="en-IN" dirty="0"/>
              <a:t>).</a:t>
            </a:r>
          </a:p>
          <a:p>
            <a:pPr marL="285750" indent="-285750">
              <a:buFont typeface="Arial" panose="020B0604020202020204" pitchFamily="34" charset="0"/>
              <a:buChar char="•"/>
            </a:pPr>
            <a:endParaRPr lang="en-IN" dirty="0"/>
          </a:p>
          <a:p>
            <a:endParaRPr lang="en-IN" dirty="0"/>
          </a:p>
          <a:p>
            <a:r>
              <a:rPr lang="en-IN" b="1" dirty="0"/>
              <a:t>Business Interpretation:</a:t>
            </a:r>
          </a:p>
          <a:p>
            <a:r>
              <a:rPr lang="en-IN" dirty="0"/>
              <a:t>The analysis suggests that the travel agency should primarily target younger employees, employees with relatively lower salaries, employees with fewer or no young children, and foreign employees, as these factors significantly influence holiday package purchases. Education level and the number of older children were not found to significantly affect purchase decisions and need not be prioritized for customer targeting.</a:t>
            </a:r>
            <a:endParaRPr lang="en-IN" b="1" dirty="0"/>
          </a:p>
        </p:txBody>
      </p:sp>
    </p:spTree>
    <p:extLst>
      <p:ext uri="{BB962C8B-B14F-4D97-AF65-F5344CB8AC3E}">
        <p14:creationId xmlns:p14="http://schemas.microsoft.com/office/powerpoint/2010/main" val="1291315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490</Words>
  <Application>Microsoft Office PowerPoint</Application>
  <PresentationFormat>Widescreen</PresentationFormat>
  <Paragraphs>54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dhanush K B</dc:creator>
  <cp:lastModifiedBy>dhanush K B</cp:lastModifiedBy>
  <cp:revision>10</cp:revision>
  <dcterms:created xsi:type="dcterms:W3CDTF">2026-07-20T02:53:59Z</dcterms:created>
  <dcterms:modified xsi:type="dcterms:W3CDTF">2026-07-20T05:09:37Z</dcterms:modified>
</cp:coreProperties>
</file>